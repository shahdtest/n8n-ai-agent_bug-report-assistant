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wHeAqMUd5y/EUYCxHUDX92Llh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BB06B3-BACE-457F-96A2-22A81DA3CA52}">
  <a:tblStyle styleId="{00BB06B3-BACE-457F-96A2-22A81DA3CA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c023c24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6c023c24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6c023c24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6c023c2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6c023c241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6c023c24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c023c24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96c023c241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c023c2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6c023c24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6c023c24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96c023c24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rive.google.com/drive/folders/1qRpIpxGNBEyeMOILkOBqZmB83FRJi2t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QA Bug Reporting Workflow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Implementation &amp; Design Overview (n8n)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Introduction</a:t>
            </a:r>
            <a:endParaRPr b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Automates QA bug reporting workflow end-to-end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Converts raw issue description to professional bug report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Integrates AI, Google Sheets, Slack, Jira, and Vector DB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Objective</a:t>
            </a:r>
            <a:endParaRPr b="1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/>
              <a:t>Ensure structured, high-quality bug reports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Reduce manual bug reporting effort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Detect duplicate bugs automatically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Automate approval &amp; ticketing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Seamless integration with team tools 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6c023c241_0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5106"/>
              <a:buFont typeface="Arial"/>
              <a:buNone/>
            </a:pPr>
            <a:r>
              <a:rPr b="1" lang="en-US" sz="3133">
                <a:latin typeface="Arial"/>
                <a:ea typeface="Arial"/>
                <a:cs typeface="Arial"/>
                <a:sym typeface="Arial"/>
              </a:rPr>
              <a:t>🔍 Problem Statement</a:t>
            </a:r>
            <a:endParaRPr b="1" sz="313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511"/>
          </a:p>
        </p:txBody>
      </p:sp>
      <p:sp>
        <p:nvSpPr>
          <p:cNvPr id="103" name="Google Shape;103;g396c023c241_0_28"/>
          <p:cNvSpPr txBox="1"/>
          <p:nvPr>
            <p:ph idx="1" type="body"/>
          </p:nvPr>
        </p:nvSpPr>
        <p:spPr>
          <a:xfrm>
            <a:off x="457200" y="1199500"/>
            <a:ext cx="8229600" cy="492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In modern QA workflows, bug reporting suffers from several inefficiencies: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❌ Unstructured bug descriptions from users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❌ Missing critical details (environment, steps, severity)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❌ Duplicate bug submissions wasting team effort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❌ Manual triaging and validation delays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❌ Lack of centralized intelligence for historical bugs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These issues lead to: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Increased QA overhead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Slower release cycles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Poor communication between QA, Dev, and Product teams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6c023c241_0_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💡 Proposed Solution</a:t>
            </a:r>
            <a:endParaRPr sz="5400"/>
          </a:p>
        </p:txBody>
      </p:sp>
      <p:sp>
        <p:nvSpPr>
          <p:cNvPr id="109" name="Google Shape;109;g396c023c241_0_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AI-powered automated bug reporting system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that: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✅ Key Capabilities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Converts raw user input into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structured QA bug reports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LLM (OpenAI)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for intelligent analysis and formatting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Detects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duplicate bugs using vector embeddings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Automates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approval workflow via Slack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Integrates with: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📊 Google Sheets (tracking)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🎫 Jira (issue creation)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Stores historical bugs in a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Vector Database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for semantic search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6c023c241_0_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🎯 Expected Outcome</a:t>
            </a:r>
            <a:endParaRPr sz="4900"/>
          </a:p>
        </p:txBody>
      </p:sp>
      <p:sp>
        <p:nvSpPr>
          <p:cNvPr id="115" name="Google Shape;115;g396c023c241_0_38"/>
          <p:cNvSpPr txBox="1"/>
          <p:nvPr>
            <p:ph idx="1" type="body"/>
          </p:nvPr>
        </p:nvSpPr>
        <p:spPr>
          <a:xfrm>
            <a:off x="238875" y="17197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/>
              <a:t>Expected Outcome:</a:t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graphicFrame>
        <p:nvGraphicFramePr>
          <p:cNvPr id="116" name="Google Shape;116;g396c023c241_0_38"/>
          <p:cNvGraphicFramePr/>
          <p:nvPr/>
        </p:nvGraphicFramePr>
        <p:xfrm>
          <a:off x="457200" y="248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{00BB06B3-BACE-457F-96A2-22A81DA3CA52}</a:tableStyleId>
              </a:tblPr>
              <a:tblGrid>
                <a:gridCol w="2783200"/>
                <a:gridCol w="4710025"/>
              </a:tblGrid>
              <a:tr h="5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Area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Improvement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Bug Quality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+80% structured &amp; complete reports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Duplicate Reduction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-60% duplicate submissions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QA Efficiency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+50% faster triaging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Time to Ticket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Reduced from minutes → seconds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Collaboration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Real-time Slack approvals</a:t>
                      </a:r>
                      <a:endParaRPr sz="1100"/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g396c023c241_0_38"/>
          <p:cNvSpPr txBox="1"/>
          <p:nvPr/>
        </p:nvSpPr>
        <p:spPr>
          <a:xfrm>
            <a:off x="1653300" y="3245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US" sz="1800"/>
              <a:t> </a:t>
            </a:r>
            <a:endParaRPr b="1"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6c023c241_0_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Benefits</a:t>
            </a:r>
            <a:endParaRPr/>
          </a:p>
        </p:txBody>
      </p:sp>
      <p:sp>
        <p:nvSpPr>
          <p:cNvPr id="123" name="Google Shape;123;g396c023c241_0_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Eliminates manual formatting errors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Standardized bug reports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Real-time duplicate detection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Streamlined approvals and notifications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Centralized storage and analytics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🔐 Security &amp; Data Handling</a:t>
            </a:r>
            <a:endParaRPr sz="5600"/>
          </a:p>
        </p:txBody>
      </p:sp>
      <p:sp>
        <p:nvSpPr>
          <p:cNvPr id="129" name="Google Shape;129;p9"/>
          <p:cNvSpPr txBox="1"/>
          <p:nvPr>
            <p:ph idx="1" type="body"/>
          </p:nvPr>
        </p:nvSpPr>
        <p:spPr>
          <a:xfrm>
            <a:off x="952925" y="1250875"/>
            <a:ext cx="7734000" cy="52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90">
                <a:latin typeface="Arial"/>
                <a:ea typeface="Arial"/>
                <a:cs typeface="Arial"/>
                <a:sym typeface="Arial"/>
              </a:rPr>
              <a:t>🔒 Authentication</a:t>
            </a:r>
            <a:endParaRPr b="1" sz="1435">
              <a:latin typeface="Arial"/>
              <a:ea typeface="Arial"/>
              <a:cs typeface="Arial"/>
              <a:sym typeface="Arial"/>
            </a:endParaRPr>
          </a:p>
          <a:p>
            <a:pPr indent="-3260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35"/>
              <a:buChar char="●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OAuth2 used for: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-32607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5"/>
              <a:buChar char="○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Google Sheets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-32607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5"/>
              <a:buChar char="○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Slack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-32607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5"/>
              <a:buChar char="○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Jira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90">
                <a:latin typeface="Arial"/>
                <a:ea typeface="Arial"/>
                <a:cs typeface="Arial"/>
                <a:sym typeface="Arial"/>
              </a:rPr>
              <a:t>🔑 API Securit</a:t>
            </a:r>
            <a:r>
              <a:rPr b="1" lang="en-US" sz="1605">
                <a:latin typeface="Arial"/>
                <a:ea typeface="Arial"/>
                <a:cs typeface="Arial"/>
                <a:sym typeface="Arial"/>
              </a:rPr>
              <a:t>y</a:t>
            </a:r>
            <a:endParaRPr b="1" sz="1605">
              <a:latin typeface="Arial"/>
              <a:ea typeface="Arial"/>
              <a:cs typeface="Arial"/>
              <a:sym typeface="Arial"/>
            </a:endParaRPr>
          </a:p>
          <a:p>
            <a:pPr indent="-3260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35"/>
              <a:buChar char="●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Secure credential storage in n8n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-3260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5"/>
              <a:buChar char="●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No hardcoded secrets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90">
                <a:latin typeface="Arial"/>
                <a:ea typeface="Arial"/>
                <a:cs typeface="Arial"/>
                <a:sym typeface="Arial"/>
              </a:rPr>
              <a:t>📦 Data Privacy</a:t>
            </a:r>
            <a:endParaRPr b="1" sz="1605">
              <a:latin typeface="Arial"/>
              <a:ea typeface="Arial"/>
              <a:cs typeface="Arial"/>
              <a:sym typeface="Arial"/>
            </a:endParaRPr>
          </a:p>
          <a:p>
            <a:pPr indent="-3260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35"/>
              <a:buChar char="●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Sensitive data is: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-32607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5"/>
              <a:buChar char="○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Not exposed externally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-32607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5"/>
              <a:buChar char="○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Processed within controlled workflows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90">
                <a:latin typeface="Arial"/>
                <a:ea typeface="Arial"/>
                <a:cs typeface="Arial"/>
                <a:sym typeface="Arial"/>
              </a:rPr>
              <a:t>🧠 AI Safety</a:t>
            </a:r>
            <a:endParaRPr b="1" sz="1605">
              <a:latin typeface="Arial"/>
              <a:ea typeface="Arial"/>
              <a:cs typeface="Arial"/>
              <a:sym typeface="Arial"/>
            </a:endParaRPr>
          </a:p>
          <a:p>
            <a:pPr indent="-3260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35"/>
              <a:buChar char="●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Controlled prompt engineering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-3260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35"/>
              <a:buChar char="●"/>
            </a:pPr>
            <a:r>
              <a:rPr lang="en-US" sz="1535">
                <a:latin typeface="Arial"/>
                <a:ea typeface="Arial"/>
                <a:cs typeface="Arial"/>
                <a:sym typeface="Arial"/>
              </a:rPr>
              <a:t>Strict output formatting rules</a:t>
            </a:r>
            <a:endParaRPr sz="15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r>
              <a:t/>
            </a:r>
            <a:endParaRPr sz="32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/>
          </a:p>
        </p:txBody>
      </p:sp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Architecture Overview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/>
              <a:t>User Input:</a:t>
            </a:r>
            <a:r>
              <a:rPr lang="en-US" sz="3000"/>
              <a:t> Captured via n8n Chat Trigger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/>
              <a:t>AI Agent:</a:t>
            </a:r>
            <a:r>
              <a:rPr lang="en-US" sz="3000"/>
              <a:t> Generates structured bug report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/>
              <a:t>Report Parser:</a:t>
            </a:r>
            <a:r>
              <a:rPr lang="en-US" sz="3000"/>
              <a:t> Extracts metadata and steps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/>
              <a:t>Duplicate Detection:</a:t>
            </a:r>
            <a:r>
              <a:rPr lang="en-US" sz="3000"/>
              <a:t> Embeddings + similarity evaluation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/>
              <a:t>Storage:</a:t>
            </a:r>
            <a:r>
              <a:rPr lang="en-US" sz="3000"/>
              <a:t> Vector DB + Google Sheets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/>
              <a:t>Notifications:</a:t>
            </a:r>
            <a:r>
              <a:rPr lang="en-US" sz="3000"/>
              <a:t> Slack alerts for approval, duplicate, approved, or rejected bugs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/>
              <a:t>Issue Tracking:</a:t>
            </a:r>
            <a:r>
              <a:rPr lang="en-US" sz="3000"/>
              <a:t> Jira ticket creation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/>
          </a:p>
        </p:txBody>
      </p:sp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Architecture Diagram</a:t>
            </a:r>
            <a:endParaRPr/>
          </a:p>
          <a:p>
            <a:pPr indent="-342900" lvl="0" marL="342900" rtl="0" algn="l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 sz="2800">
                <a:solidFill>
                  <a:schemeClr val="dk2"/>
                </a:solidFill>
              </a:rPr>
              <a:t>User Input --&gt; AI Agent Bug Reporting--&gt;Report Parser --&gt; Format Search Query --&gt; Evaluate Similarity --&gt; Is Duplicate?</a:t>
            </a:r>
            <a:endParaRPr/>
          </a:p>
          <a:p>
            <a:pPr indent="-342900" lvl="0" marL="342900" rtl="0" algn="l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 sz="2800">
                <a:solidFill>
                  <a:schemeClr val="dk2"/>
                </a:solidFill>
              </a:rPr>
              <a:t>Is Duplicate? --&gt; Yes --&gt; Notify Duplicate (Slack)</a:t>
            </a:r>
            <a:endParaRPr/>
          </a:p>
          <a:p>
            <a:pPr indent="-342900" lvl="0" marL="342900" rtl="0" algn="l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 sz="2800">
                <a:solidFill>
                  <a:schemeClr val="dk2"/>
                </a:solidFill>
              </a:rPr>
              <a:t>Is Duplicate? --&gt; No --&gt; Prepare Bug for Storage --&gt; Generate Storage Embedding--&gt;Store Bug in VectorDB --&gt; Prepare Storage Document --&gt;</a:t>
            </a:r>
            <a:endParaRPr/>
          </a:p>
          <a:p>
            <a:pPr indent="-342900" lvl="0" marL="342900" rtl="0" algn="l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 sz="2800">
                <a:solidFill>
                  <a:schemeClr val="dk2"/>
                </a:solidFill>
              </a:rPr>
              <a:t>Update Sheet with Jira ID --&gt; Code in JavaScript --&gt; Create Jira Issue --&gt; Send Slack Message (Approved)</a:t>
            </a:r>
            <a:endParaRPr/>
          </a:p>
          <a:p>
            <a:pPr indent="-342900" lvl="0" marL="342900" rtl="0" algn="l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Char char="•"/>
            </a:pPr>
            <a:r>
              <a:rPr lang="en-US" sz="2800">
                <a:solidFill>
                  <a:schemeClr val="dk2"/>
                </a:solidFill>
              </a:rPr>
              <a:t>Bug Rejected (Slack)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c023c241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/>
          </a:p>
        </p:txBody>
      </p:sp>
      <p:sp>
        <p:nvSpPr>
          <p:cNvPr id="147" name="Google Shape;147;g396c023c241_0_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pic>
        <p:nvPicPr>
          <p:cNvPr id="148" name="Google Shape;148;g396c023c241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4597"/>
            <a:ext cx="9144002" cy="40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Integration &amp; Tools</a:t>
            </a:r>
            <a:endParaRPr/>
          </a:p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n8n:</a:t>
            </a:r>
            <a:r>
              <a:rPr lang="en-US" sz="2800"/>
              <a:t> Workflow automation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OpenAI:</a:t>
            </a:r>
            <a:r>
              <a:rPr lang="en-US" sz="2800"/>
              <a:t> Text generation, embeddings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Slack:</a:t>
            </a:r>
            <a:r>
              <a:rPr lang="en-US" sz="2800"/>
              <a:t> Team notifications and approval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Google Sheets:</a:t>
            </a:r>
            <a:r>
              <a:rPr lang="en-US" sz="2800"/>
              <a:t> Centralized bug tracking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Jira:</a:t>
            </a:r>
            <a:r>
              <a:rPr lang="en-US" sz="2800"/>
              <a:t> Issue tracking &amp; ticket creation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Vector DB:</a:t>
            </a:r>
            <a:r>
              <a:rPr lang="en-US" sz="2800"/>
              <a:t> Duplicate detection &amp; retrieval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Workflow Components Table</a:t>
            </a:r>
            <a:endParaRPr/>
          </a:p>
        </p:txBody>
      </p:sp>
      <p:pic>
        <p:nvPicPr>
          <p:cNvPr id="160" name="Google Shape;16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659467"/>
            <a:ext cx="8466667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Workflow Components Table</a:t>
            </a:r>
            <a:endParaRPr/>
          </a:p>
        </p:txBody>
      </p:sp>
      <p:pic>
        <p:nvPicPr>
          <p:cNvPr id="166" name="Google Shape;166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01" y="1818457"/>
            <a:ext cx="7789332" cy="386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the reported issue is </a:t>
            </a:r>
            <a:r>
              <a:rPr b="1" lang="en-US">
                <a:solidFill>
                  <a:srgbClr val="6AA84F"/>
                </a:solidFill>
              </a:rPr>
              <a:t>Duplicate </a:t>
            </a:r>
            <a:r>
              <a:rPr lang="en-US"/>
              <a:t>(Already reported):</a:t>
            </a:r>
            <a:endParaRPr/>
          </a:p>
          <a:p>
            <a:pPr indent="0" lvl="0" marL="34290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/>
              <a:t>-&gt; Send Notification with the JIRA# if exists.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the reported issue is </a:t>
            </a:r>
            <a:r>
              <a:rPr b="1" lang="en-US">
                <a:solidFill>
                  <a:srgbClr val="6AA84F"/>
                </a:solidFill>
              </a:rPr>
              <a:t>New </a:t>
            </a:r>
            <a:r>
              <a:rPr lang="en-US"/>
              <a:t>then:</a:t>
            </a:r>
            <a:endParaRPr/>
          </a:p>
          <a:p>
            <a:pPr indent="-342900" lvl="0" marL="8001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approved:</a:t>
            </a:r>
            <a:endParaRPr/>
          </a:p>
          <a:p>
            <a:pPr indent="-342900" lvl="0" marL="8001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→ Create Jira ticket</a:t>
            </a:r>
            <a:endParaRPr/>
          </a:p>
          <a:p>
            <a:pPr indent="-154940" lvl="0" marL="8001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8001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rejected:</a:t>
            </a:r>
            <a:endParaRPr/>
          </a:p>
          <a:p>
            <a:pPr indent="-342900" lvl="0" marL="8001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→ Send rejection notification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Jira Integration</a:t>
            </a:r>
            <a:endParaRPr/>
          </a:p>
        </p:txBody>
      </p:sp>
      <p:sp>
        <p:nvSpPr>
          <p:cNvPr id="178" name="Google Shape;178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Auto-create tickets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Map fields following the QA Standard Report.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File Upload Support:</a:t>
            </a:r>
            <a:endParaRPr b="1" sz="12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800">
                <a:highlight>
                  <a:srgbClr val="FFFFFF"/>
                </a:highlight>
              </a:rPr>
              <a:t>Users can attach screenshots or videos as evidence, which are linked directly to the JIRA ticket for full traceability.</a:t>
            </a:r>
            <a:endParaRPr b="1" sz="3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/>
          </a:p>
        </p:txBody>
      </p:sp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Slack confirmation on </a:t>
            </a:r>
            <a:r>
              <a:rPr b="1" lang="en-US">
                <a:solidFill>
                  <a:srgbClr val="6AA84F"/>
                </a:solidFill>
              </a:rPr>
              <a:t>approval </a:t>
            </a:r>
            <a:r>
              <a:rPr lang="en-US"/>
              <a:t>with ticket ID + URL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>
                <a:solidFill>
                  <a:srgbClr val="FF0000"/>
                </a:solidFill>
              </a:rPr>
              <a:t>Rejection </a:t>
            </a:r>
            <a:r>
              <a:rPr lang="en-US"/>
              <a:t>alerts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Slack Notification if the reported issue is </a:t>
            </a:r>
            <a:r>
              <a:rPr b="1" lang="en-US">
                <a:solidFill>
                  <a:srgbClr val="FF9900"/>
                </a:solidFill>
              </a:rPr>
              <a:t>duplicated </a:t>
            </a:r>
            <a:r>
              <a:rPr lang="en-US"/>
              <a:t>“already in the Google sheet” shared its JIRA# if any.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&amp; Validation</a:t>
            </a:r>
            <a:endParaRPr/>
          </a:p>
        </p:txBody>
      </p:sp>
      <p:sp>
        <p:nvSpPr>
          <p:cNvPr id="190" name="Google Shape;190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Validate inputs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Test approval/rejection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Verify Jira creation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Check missing fields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Validate if the bug reported before “Duplicated”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Troubleshooting</a:t>
            </a:r>
            <a:endParaRPr/>
          </a:p>
        </p:txBody>
      </p:sp>
      <p:sp>
        <p:nvSpPr>
          <p:cNvPr id="196" name="Google Shape;19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Empty fields → check parser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• Jira errors → validate fields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• Slack issues → check wait node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    • Check duplicate -&gt; Use DB and Mem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/>
          </a:p>
        </p:txBody>
      </p:sp>
      <p:sp>
        <p:nvSpPr>
          <p:cNvPr id="202" name="Google Shape;202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 strict AI prompts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Secure credentials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Monitor logs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Add retry logic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Aviod Duplicate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Keep the reporter always updated for any status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Fully automated QA lifecycle: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Standardized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Efficient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Traceable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Scalable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6c023c241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Demo &amp; Ref</a:t>
            </a:r>
            <a:endParaRPr/>
          </a:p>
        </p:txBody>
      </p:sp>
      <p:sp>
        <p:nvSpPr>
          <p:cNvPr id="214" name="Google Shape;214;g396c023c241_0_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Feel free to review the documentation and demo videos: 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https://drive.google.com/drive/folders/1qRpIpxGNBEyeMOILkOBqZmB83FRJi2t1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